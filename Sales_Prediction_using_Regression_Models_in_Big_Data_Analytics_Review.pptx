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8" r:id="rId8"/>
    <p:sldId id="263" r:id="rId9"/>
    <p:sldId id="266" r:id="rId10"/>
    <p:sldId id="264" r:id="rId11"/>
    <p:sldId id="265"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48A908-7561-4176-BF2B-C96BE3615130}" v="28" dt="2026-03-31T11:12:35.6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DARUPALLI BHAVIKA SREE" userId="da0a4dbe3d31faa9" providerId="LiveId" clId="{F7ED007B-FAA0-48B9-B0C3-92920D2ABE97}"/>
    <pc:docChg chg="custSel addSld delSld modSld sldOrd">
      <pc:chgData name="BANDARUPALLI BHAVIKA SREE" userId="da0a4dbe3d31faa9" providerId="LiveId" clId="{F7ED007B-FAA0-48B9-B0C3-92920D2ABE97}" dt="2026-03-31T11:12:48.159" v="107" actId="1076"/>
      <pc:docMkLst>
        <pc:docMk/>
      </pc:docMkLst>
      <pc:sldChg chg="addSp modSp mod">
        <pc:chgData name="BANDARUPALLI BHAVIKA SREE" userId="da0a4dbe3d31faa9" providerId="LiveId" clId="{F7ED007B-FAA0-48B9-B0C3-92920D2ABE97}" dt="2026-03-31T11:08:45.116" v="73" actId="14100"/>
        <pc:sldMkLst>
          <pc:docMk/>
          <pc:sldMk cId="1787503305" sldId="263"/>
        </pc:sldMkLst>
        <pc:spChg chg="mod">
          <ac:chgData name="BANDARUPALLI BHAVIKA SREE" userId="da0a4dbe3d31faa9" providerId="LiveId" clId="{F7ED007B-FAA0-48B9-B0C3-92920D2ABE97}" dt="2026-03-31T11:04:34.753" v="26" actId="1076"/>
          <ac:spMkLst>
            <pc:docMk/>
            <pc:sldMk cId="1787503305" sldId="263"/>
            <ac:spMk id="2" creationId="{13394D6F-533E-B696-F103-0837163DCFAC}"/>
          </ac:spMkLst>
        </pc:spChg>
        <pc:spChg chg="mod">
          <ac:chgData name="BANDARUPALLI BHAVIKA SREE" userId="da0a4dbe3d31faa9" providerId="LiveId" clId="{F7ED007B-FAA0-48B9-B0C3-92920D2ABE97}" dt="2026-03-31T11:08:45.116" v="73" actId="14100"/>
          <ac:spMkLst>
            <pc:docMk/>
            <pc:sldMk cId="1787503305" sldId="263"/>
            <ac:spMk id="3" creationId="{AD08D71A-58BA-83E5-65A5-25790C817259}"/>
          </ac:spMkLst>
        </pc:spChg>
        <pc:picChg chg="add mod">
          <ac:chgData name="BANDARUPALLI BHAVIKA SREE" userId="da0a4dbe3d31faa9" providerId="LiveId" clId="{F7ED007B-FAA0-48B9-B0C3-92920D2ABE97}" dt="2026-03-31T11:04:29.501" v="25" actId="1076"/>
          <ac:picMkLst>
            <pc:docMk/>
            <pc:sldMk cId="1787503305" sldId="263"/>
            <ac:picMk id="1026" creationId="{F280D840-B84E-3ED6-136B-82C829152A6C}"/>
          </ac:picMkLst>
        </pc:picChg>
      </pc:sldChg>
      <pc:sldChg chg="addSp delSp modSp add mod">
        <pc:chgData name="BANDARUPALLI BHAVIKA SREE" userId="da0a4dbe3d31faa9" providerId="LiveId" clId="{F7ED007B-FAA0-48B9-B0C3-92920D2ABE97}" dt="2026-03-31T11:05:55.796" v="41" actId="20577"/>
        <pc:sldMkLst>
          <pc:docMk/>
          <pc:sldMk cId="1544574567" sldId="266"/>
        </pc:sldMkLst>
        <pc:spChg chg="del">
          <ac:chgData name="BANDARUPALLI BHAVIKA SREE" userId="da0a4dbe3d31faa9" providerId="LiveId" clId="{F7ED007B-FAA0-48B9-B0C3-92920D2ABE97}" dt="2026-03-31T11:05:03.055" v="29" actId="21"/>
          <ac:spMkLst>
            <pc:docMk/>
            <pc:sldMk cId="1544574567" sldId="266"/>
            <ac:spMk id="3" creationId="{958D66CA-14D0-32AC-06E3-381532D791F6}"/>
          </ac:spMkLst>
        </pc:spChg>
        <pc:spChg chg="add mod">
          <ac:chgData name="BANDARUPALLI BHAVIKA SREE" userId="da0a4dbe3d31faa9" providerId="LiveId" clId="{F7ED007B-FAA0-48B9-B0C3-92920D2ABE97}" dt="2026-03-31T11:05:55.796" v="41" actId="20577"/>
          <ac:spMkLst>
            <pc:docMk/>
            <pc:sldMk cId="1544574567" sldId="266"/>
            <ac:spMk id="5" creationId="{403D8D40-6E86-5479-7286-FD6503578C87}"/>
          </ac:spMkLst>
        </pc:spChg>
        <pc:picChg chg="del">
          <ac:chgData name="BANDARUPALLI BHAVIKA SREE" userId="da0a4dbe3d31faa9" providerId="LiveId" clId="{F7ED007B-FAA0-48B9-B0C3-92920D2ABE97}" dt="2026-03-31T11:04:54.817" v="28" actId="21"/>
          <ac:picMkLst>
            <pc:docMk/>
            <pc:sldMk cId="1544574567" sldId="266"/>
            <ac:picMk id="1026" creationId="{6FAB6CD5-FF86-11AD-914C-F0D38DD36C91}"/>
          </ac:picMkLst>
        </pc:picChg>
        <pc:picChg chg="add mod">
          <ac:chgData name="BANDARUPALLI BHAVIKA SREE" userId="da0a4dbe3d31faa9" providerId="LiveId" clId="{F7ED007B-FAA0-48B9-B0C3-92920D2ABE97}" dt="2026-03-31T11:05:44.270" v="36" actId="14100"/>
          <ac:picMkLst>
            <pc:docMk/>
            <pc:sldMk cId="1544574567" sldId="266"/>
            <ac:picMk id="2050" creationId="{82B00EF1-3658-4A73-95CF-E4A6173BABB9}"/>
          </ac:picMkLst>
        </pc:picChg>
      </pc:sldChg>
      <pc:sldChg chg="new del">
        <pc:chgData name="BANDARUPALLI BHAVIKA SREE" userId="da0a4dbe3d31faa9" providerId="LiveId" clId="{F7ED007B-FAA0-48B9-B0C3-92920D2ABE97}" dt="2026-03-31T11:06:32.523" v="44" actId="2696"/>
        <pc:sldMkLst>
          <pc:docMk/>
          <pc:sldMk cId="2723839828" sldId="267"/>
        </pc:sldMkLst>
      </pc:sldChg>
      <pc:sldChg chg="addSp delSp modSp add mod ord">
        <pc:chgData name="BANDARUPALLI BHAVIKA SREE" userId="da0a4dbe3d31faa9" providerId="LiveId" clId="{F7ED007B-FAA0-48B9-B0C3-92920D2ABE97}" dt="2026-03-31T11:08:26.746" v="71"/>
        <pc:sldMkLst>
          <pc:docMk/>
          <pc:sldMk cId="3237393557" sldId="268"/>
        </pc:sldMkLst>
        <pc:spChg chg="add del mod">
          <ac:chgData name="BANDARUPALLI BHAVIKA SREE" userId="da0a4dbe3d31faa9" providerId="LiveId" clId="{F7ED007B-FAA0-48B9-B0C3-92920D2ABE97}" dt="2026-03-31T11:06:45.520" v="47"/>
          <ac:spMkLst>
            <pc:docMk/>
            <pc:sldMk cId="3237393557" sldId="268"/>
            <ac:spMk id="4" creationId="{2E6105D8-D017-5436-C47A-0A26F3255A4B}"/>
          </ac:spMkLst>
        </pc:spChg>
        <pc:spChg chg="del">
          <ac:chgData name="BANDARUPALLI BHAVIKA SREE" userId="da0a4dbe3d31faa9" providerId="LiveId" clId="{F7ED007B-FAA0-48B9-B0C3-92920D2ABE97}" dt="2026-03-31T11:06:40.556" v="46" actId="21"/>
          <ac:spMkLst>
            <pc:docMk/>
            <pc:sldMk cId="3237393557" sldId="268"/>
            <ac:spMk id="5" creationId="{89B8A1D5-B99F-649E-6378-B067A8CACCDC}"/>
          </ac:spMkLst>
        </pc:spChg>
        <pc:spChg chg="add mod">
          <ac:chgData name="BANDARUPALLI BHAVIKA SREE" userId="da0a4dbe3d31faa9" providerId="LiveId" clId="{F7ED007B-FAA0-48B9-B0C3-92920D2ABE97}" dt="2026-03-31T11:07:44.686" v="69" actId="14100"/>
          <ac:spMkLst>
            <pc:docMk/>
            <pc:sldMk cId="3237393557" sldId="268"/>
            <ac:spMk id="6" creationId="{89B8A1D5-B99F-649E-6378-B067A8CACCDC}"/>
          </ac:spMkLst>
        </pc:spChg>
        <pc:picChg chg="del">
          <ac:chgData name="BANDARUPALLI BHAVIKA SREE" userId="da0a4dbe3d31faa9" providerId="LiveId" clId="{F7ED007B-FAA0-48B9-B0C3-92920D2ABE97}" dt="2026-03-31T11:06:35.661" v="45" actId="21"/>
          <ac:picMkLst>
            <pc:docMk/>
            <pc:sldMk cId="3237393557" sldId="268"/>
            <ac:picMk id="2050" creationId="{BBCB7D15-130B-6989-3D22-D228A708875C}"/>
          </ac:picMkLst>
        </pc:picChg>
        <pc:picChg chg="add mod">
          <ac:chgData name="BANDARUPALLI BHAVIKA SREE" userId="da0a4dbe3d31faa9" providerId="LiveId" clId="{F7ED007B-FAA0-48B9-B0C3-92920D2ABE97}" dt="2026-03-31T11:07:39.112" v="66" actId="14100"/>
          <ac:picMkLst>
            <pc:docMk/>
            <pc:sldMk cId="3237393557" sldId="268"/>
            <ac:picMk id="3074" creationId="{12B47F77-74A6-3949-F18A-8B3DEDD66F9D}"/>
          </ac:picMkLst>
        </pc:picChg>
      </pc:sldChg>
      <pc:sldChg chg="modSp new mod">
        <pc:chgData name="BANDARUPALLI BHAVIKA SREE" userId="da0a4dbe3d31faa9" providerId="LiveId" clId="{F7ED007B-FAA0-48B9-B0C3-92920D2ABE97}" dt="2026-03-31T11:12:48.159" v="107" actId="1076"/>
        <pc:sldMkLst>
          <pc:docMk/>
          <pc:sldMk cId="508987400" sldId="269"/>
        </pc:sldMkLst>
        <pc:spChg chg="mod">
          <ac:chgData name="BANDARUPALLI BHAVIKA SREE" userId="da0a4dbe3d31faa9" providerId="LiveId" clId="{F7ED007B-FAA0-48B9-B0C3-92920D2ABE97}" dt="2026-03-31T11:09:35.643" v="104" actId="122"/>
          <ac:spMkLst>
            <pc:docMk/>
            <pc:sldMk cId="508987400" sldId="269"/>
            <ac:spMk id="2" creationId="{4A085276-1D70-84C9-A264-F1AFD01472E9}"/>
          </ac:spMkLst>
        </pc:spChg>
        <pc:spChg chg="mod">
          <ac:chgData name="BANDARUPALLI BHAVIKA SREE" userId="da0a4dbe3d31faa9" providerId="LiveId" clId="{F7ED007B-FAA0-48B9-B0C3-92920D2ABE97}" dt="2026-03-31T11:12:48.159" v="107" actId="1076"/>
          <ac:spMkLst>
            <pc:docMk/>
            <pc:sldMk cId="508987400" sldId="269"/>
            <ac:spMk id="3" creationId="{C067BE11-596E-B038-D9D5-2E8E317BC0D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AAD6E1-B262-4FA0-8152-D86686E5CC85}"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57A2F-E2AF-4F6C-8113-BDDC3A8AB5B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541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AAD6E1-B262-4FA0-8152-D86686E5CC85}"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57A2F-E2AF-4F6C-8113-BDDC3A8AB5B8}" type="slidenum">
              <a:rPr lang="en-US" smtClean="0"/>
              <a:t>‹#›</a:t>
            </a:fld>
            <a:endParaRPr lang="en-US"/>
          </a:p>
        </p:txBody>
      </p:sp>
    </p:spTree>
    <p:extLst>
      <p:ext uri="{BB962C8B-B14F-4D97-AF65-F5344CB8AC3E}">
        <p14:creationId xmlns:p14="http://schemas.microsoft.com/office/powerpoint/2010/main" val="437507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AAD6E1-B262-4FA0-8152-D86686E5CC85}"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57A2F-E2AF-4F6C-8113-BDDC3A8AB5B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4993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AAD6E1-B262-4FA0-8152-D86686E5CC85}"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257A2F-E2AF-4F6C-8113-BDDC3A8AB5B8}" type="slidenum">
              <a:rPr lang="en-US" smtClean="0"/>
              <a:t>‹#›</a:t>
            </a:fld>
            <a:endParaRPr lang="en-US"/>
          </a:p>
        </p:txBody>
      </p:sp>
    </p:spTree>
    <p:extLst>
      <p:ext uri="{BB962C8B-B14F-4D97-AF65-F5344CB8AC3E}">
        <p14:creationId xmlns:p14="http://schemas.microsoft.com/office/powerpoint/2010/main" val="165417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AAD6E1-B262-4FA0-8152-D86686E5CC85}"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257A2F-E2AF-4F6C-8113-BDDC3A8AB5B8}" type="slidenum">
              <a:rPr lang="en-US" smtClean="0"/>
              <a:t>‹#›</a:t>
            </a:fld>
            <a:endParaRPr lang="en-US"/>
          </a:p>
        </p:txBody>
      </p:sp>
    </p:spTree>
    <p:extLst>
      <p:ext uri="{BB962C8B-B14F-4D97-AF65-F5344CB8AC3E}">
        <p14:creationId xmlns:p14="http://schemas.microsoft.com/office/powerpoint/2010/main" val="3334120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AAD6E1-B262-4FA0-8152-D86686E5CC85}"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257A2F-E2AF-4F6C-8113-BDDC3A8AB5B8}" type="slidenum">
              <a:rPr lang="en-US" smtClean="0"/>
              <a:t>‹#›</a:t>
            </a:fld>
            <a:endParaRPr lang="en-US"/>
          </a:p>
        </p:txBody>
      </p:sp>
    </p:spTree>
    <p:extLst>
      <p:ext uri="{BB962C8B-B14F-4D97-AF65-F5344CB8AC3E}">
        <p14:creationId xmlns:p14="http://schemas.microsoft.com/office/powerpoint/2010/main" val="1396550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0AAD6E1-B262-4FA0-8152-D86686E5CC85}" type="datetimeFigureOut">
              <a:rPr lang="en-US" smtClean="0"/>
              <a:t>3/31/2026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8257A2F-E2AF-4F6C-8113-BDDC3A8AB5B8}" type="slidenum">
              <a:rPr lang="en-US" smtClean="0"/>
              <a:t>‹#›</a:t>
            </a:fld>
            <a:endParaRPr lang="en-US"/>
          </a:p>
        </p:txBody>
      </p:sp>
    </p:spTree>
    <p:extLst>
      <p:ext uri="{BB962C8B-B14F-4D97-AF65-F5344CB8AC3E}">
        <p14:creationId xmlns:p14="http://schemas.microsoft.com/office/powerpoint/2010/main" val="1569724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0AAD6E1-B262-4FA0-8152-D86686E5CC85}" type="datetimeFigureOut">
              <a:rPr lang="en-US" smtClean="0"/>
              <a:t>3/31/2026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8257A2F-E2AF-4F6C-8113-BDDC3A8AB5B8}" type="slidenum">
              <a:rPr lang="en-US" smtClean="0"/>
              <a:t>‹#›</a:t>
            </a:fld>
            <a:endParaRPr lang="en-US"/>
          </a:p>
        </p:txBody>
      </p:sp>
    </p:spTree>
    <p:extLst>
      <p:ext uri="{BB962C8B-B14F-4D97-AF65-F5344CB8AC3E}">
        <p14:creationId xmlns:p14="http://schemas.microsoft.com/office/powerpoint/2010/main" val="3073121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AAD6E1-B262-4FA0-8152-D86686E5CC85}"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257A2F-E2AF-4F6C-8113-BDDC3A8AB5B8}" type="slidenum">
              <a:rPr lang="en-US" smtClean="0"/>
              <a:t>‹#›</a:t>
            </a:fld>
            <a:endParaRPr lang="en-US"/>
          </a:p>
        </p:txBody>
      </p:sp>
    </p:spTree>
    <p:extLst>
      <p:ext uri="{BB962C8B-B14F-4D97-AF65-F5344CB8AC3E}">
        <p14:creationId xmlns:p14="http://schemas.microsoft.com/office/powerpoint/2010/main" val="2588098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AAD6E1-B262-4FA0-8152-D86686E5CC85}"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57A2F-E2AF-4F6C-8113-BDDC3A8AB5B8}" type="slidenum">
              <a:rPr lang="en-US" smtClean="0"/>
              <a:t>‹#›</a:t>
            </a:fld>
            <a:endParaRPr lang="en-US"/>
          </a:p>
        </p:txBody>
      </p:sp>
    </p:spTree>
    <p:extLst>
      <p:ext uri="{BB962C8B-B14F-4D97-AF65-F5344CB8AC3E}">
        <p14:creationId xmlns:p14="http://schemas.microsoft.com/office/powerpoint/2010/main" val="3622413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AAD6E1-B262-4FA0-8152-D86686E5CC85}"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57A2F-E2AF-4F6C-8113-BDDC3A8AB5B8}" type="slidenum">
              <a:rPr lang="en-US" smtClean="0"/>
              <a:t>‹#›</a:t>
            </a:fld>
            <a:endParaRPr lang="en-US"/>
          </a:p>
        </p:txBody>
      </p:sp>
    </p:spTree>
    <p:extLst>
      <p:ext uri="{BB962C8B-B14F-4D97-AF65-F5344CB8AC3E}">
        <p14:creationId xmlns:p14="http://schemas.microsoft.com/office/powerpoint/2010/main" val="297445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0AAD6E1-B262-4FA0-8152-D86686E5CC85}" type="datetimeFigureOut">
              <a:rPr lang="en-US" smtClean="0"/>
              <a:t>3/31/2026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8257A2F-E2AF-4F6C-8113-BDDC3A8AB5B8}"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61531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2AA6-1ABB-3BCB-777F-0E6FE2596D14}"/>
              </a:ext>
            </a:extLst>
          </p:cNvPr>
          <p:cNvSpPr>
            <a:spLocks noGrp="1"/>
          </p:cNvSpPr>
          <p:nvPr>
            <p:ph type="ctrTitle"/>
          </p:nvPr>
        </p:nvSpPr>
        <p:spPr>
          <a:xfrm>
            <a:off x="1066800" y="437448"/>
            <a:ext cx="10058400" cy="2306780"/>
          </a:xfrm>
        </p:spPr>
        <p:txBody>
          <a:bodyPr/>
          <a:lstStyle/>
          <a:p>
            <a:pPr marL="0" marR="0" lvl="0" indent="0" defTabSz="914400" rtl="0" eaLnBrk="1" fontAlgn="auto" latinLnBrk="0" hangingPunct="1">
              <a:lnSpc>
                <a:spcPts val="4850"/>
              </a:lnSpc>
              <a:spcBef>
                <a:spcPts val="0"/>
              </a:spcBef>
              <a:spcAft>
                <a:spcPts val="0"/>
              </a:spcAft>
              <a:tabLst/>
              <a:defRPr/>
            </a:pPr>
            <a:r>
              <a:rPr kumimoji="0" lang="en-US" sz="4400" b="0" i="0" u="none" strike="noStrike" kern="1200" cap="none" spc="0" normalizeH="0" baseline="0" noProof="0" dirty="0">
                <a:ln>
                  <a:noFill/>
                </a:ln>
                <a:solidFill>
                  <a:srgbClr val="74767D"/>
                </a:solidFill>
                <a:effectLst/>
                <a:uLnTx/>
                <a:uFillTx/>
                <a:latin typeface="Montserrat Medium" pitchFamily="34" charset="0"/>
                <a:ea typeface="Montserrat Medium" pitchFamily="34" charset="-122"/>
                <a:cs typeface="Montserrat Medium" pitchFamily="34" charset="-120"/>
              </a:rPr>
              <a:t>Sales Prediction using Regression Models in Big Data Analytics</a:t>
            </a:r>
            <a:br>
              <a:rPr kumimoji="0" lang="en-US" sz="4400" b="0" i="0" u="none" strike="noStrike" kern="1200" cap="none" spc="0" normalizeH="0" baseline="0" noProof="0" dirty="0">
                <a:ln>
                  <a:noFill/>
                </a:ln>
                <a:solidFill>
                  <a:srgbClr val="000000"/>
                </a:solidFill>
                <a:effectLst/>
                <a:uLnTx/>
                <a:uFillTx/>
                <a:latin typeface="Arial"/>
                <a:ea typeface="SimSun"/>
                <a:cs typeface="+mn-cs"/>
              </a:rPr>
            </a:br>
            <a:endParaRPr lang="en-US" dirty="0"/>
          </a:p>
        </p:txBody>
      </p:sp>
      <p:sp>
        <p:nvSpPr>
          <p:cNvPr id="3" name="Subtitle 2">
            <a:extLst>
              <a:ext uri="{FF2B5EF4-FFF2-40B4-BE49-F238E27FC236}">
                <a16:creationId xmlns:a16="http://schemas.microsoft.com/office/drawing/2014/main" id="{0CA5B3E0-0A43-BABC-CF8B-393EC0F1829B}"/>
              </a:ext>
            </a:extLst>
          </p:cNvPr>
          <p:cNvSpPr>
            <a:spLocks noGrp="1"/>
          </p:cNvSpPr>
          <p:nvPr>
            <p:ph type="subTitle" idx="1"/>
          </p:nvPr>
        </p:nvSpPr>
        <p:spPr>
          <a:xfrm>
            <a:off x="7017249" y="2309912"/>
            <a:ext cx="4572000" cy="3536083"/>
          </a:xfrm>
        </p:spPr>
        <p:txBody>
          <a:bodyPr>
            <a:normAutofit/>
          </a:bodyPr>
          <a:lstStyle/>
          <a:p>
            <a:r>
              <a:rPr lang="en-US" sz="1700" b="1" dirty="0">
                <a:latin typeface="Times New Roman" panose="02020603050405020304" pitchFamily="18" charset="0"/>
                <a:cs typeface="Times New Roman" panose="02020603050405020304" pitchFamily="18" charset="0"/>
              </a:rPr>
              <a:t>Team Members</a:t>
            </a:r>
          </a:p>
          <a:p>
            <a:r>
              <a:rPr lang="en-US" sz="1700" b="1" dirty="0">
                <a:latin typeface="Times New Roman" panose="02020603050405020304" pitchFamily="18" charset="0"/>
                <a:cs typeface="Times New Roman" panose="02020603050405020304" pitchFamily="18" charset="0"/>
              </a:rPr>
              <a:t>2320030005 - Vaishnavi Ponnuru</a:t>
            </a:r>
          </a:p>
          <a:p>
            <a:r>
              <a:rPr lang="en-US" sz="1700" b="1" dirty="0">
                <a:latin typeface="Times New Roman" panose="02020603050405020304" pitchFamily="18" charset="0"/>
                <a:cs typeface="Times New Roman" panose="02020603050405020304" pitchFamily="18" charset="0"/>
              </a:rPr>
              <a:t>2320030029 - B Bhavika Sree</a:t>
            </a:r>
          </a:p>
          <a:p>
            <a:r>
              <a:rPr lang="en-US" sz="1700" b="1" dirty="0">
                <a:latin typeface="Times New Roman" panose="02020603050405020304" pitchFamily="18" charset="0"/>
                <a:cs typeface="Times New Roman" panose="02020603050405020304" pitchFamily="18" charset="0"/>
              </a:rPr>
              <a:t>2320030143 - V Charita Sree</a:t>
            </a:r>
          </a:p>
          <a:p>
            <a:endParaRPr lang="en-US" sz="1700" b="1" dirty="0">
              <a:latin typeface="Times New Roman" panose="02020603050405020304" pitchFamily="18" charset="0"/>
              <a:cs typeface="Times New Roman" panose="02020603050405020304" pitchFamily="18" charset="0"/>
            </a:endParaRPr>
          </a:p>
          <a:p>
            <a:endParaRPr lang="en-US" sz="17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Guide Name:</a:t>
            </a:r>
          </a:p>
          <a:p>
            <a:r>
              <a:rPr lang="en-US" sz="1600" b="1" dirty="0">
                <a:latin typeface="Times New Roman" panose="02020603050405020304" pitchFamily="18" charset="0"/>
                <a:cs typeface="Times New Roman" panose="02020603050405020304" pitchFamily="18" charset="0"/>
              </a:rPr>
              <a:t>Venkateswara E </a:t>
            </a:r>
            <a:r>
              <a:rPr lang="en-US" sz="1600" b="1" dirty="0" err="1">
                <a:latin typeface="Times New Roman" panose="02020603050405020304" pitchFamily="18" charset="0"/>
                <a:cs typeface="Times New Roman" panose="02020603050405020304" pitchFamily="18" charset="0"/>
              </a:rPr>
              <a:t>Katevarapu</a:t>
            </a:r>
            <a:endParaRPr lang="en-US" sz="16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116335A-2EE0-899B-865B-999DF224284D}"/>
              </a:ext>
            </a:extLst>
          </p:cNvPr>
          <p:cNvPicPr>
            <a:picLocks noChangeAspect="1"/>
          </p:cNvPicPr>
          <p:nvPr/>
        </p:nvPicPr>
        <p:blipFill>
          <a:blip r:embed="rId2"/>
          <a:stretch>
            <a:fillRect/>
          </a:stretch>
        </p:blipFill>
        <p:spPr>
          <a:xfrm>
            <a:off x="1161782" y="2269842"/>
            <a:ext cx="4334892" cy="3536083"/>
          </a:xfrm>
          <a:prstGeom prst="rect">
            <a:avLst/>
          </a:prstGeom>
        </p:spPr>
      </p:pic>
    </p:spTree>
    <p:extLst>
      <p:ext uri="{BB962C8B-B14F-4D97-AF65-F5344CB8AC3E}">
        <p14:creationId xmlns:p14="http://schemas.microsoft.com/office/powerpoint/2010/main" val="1878744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44680-E71C-D6EE-B997-D8A840BD4FA8}"/>
              </a:ext>
            </a:extLst>
          </p:cNvPr>
          <p:cNvSpPr>
            <a:spLocks noGrp="1"/>
          </p:cNvSpPr>
          <p:nvPr>
            <p:ph type="title"/>
          </p:nvPr>
        </p:nvSpPr>
        <p:spPr>
          <a:xfrm>
            <a:off x="1066800" y="394977"/>
            <a:ext cx="10058400" cy="1450757"/>
          </a:xfrm>
        </p:spPr>
        <p:txBody>
          <a:bodyPr/>
          <a:lstStyle/>
          <a:p>
            <a:pPr algn="ctr"/>
            <a:r>
              <a:rPr lang="en-US"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7DD0084C-20DC-E408-5514-B4A73A97B32B}"/>
              </a:ext>
            </a:extLst>
          </p:cNvPr>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PROBLEM STATEMENT: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Businesses need to predict future sales to manage inventory and planning.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methods are not accurate for large and complex datasets.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are affected by many factors like holidays, economy, and store differences.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Without proper prediction, companies may face losses or overstocking.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Hence, a data-driven solution is required for accurate sales forecasting. </a:t>
            </a:r>
          </a:p>
          <a:p>
            <a:pPr marL="0" indent="0">
              <a:buNone/>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803437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44680-E71C-D6EE-B997-D8A840BD4FA8}"/>
              </a:ext>
            </a:extLst>
          </p:cNvPr>
          <p:cNvSpPr>
            <a:spLocks noGrp="1"/>
          </p:cNvSpPr>
          <p:nvPr>
            <p:ph type="title"/>
          </p:nvPr>
        </p:nvSpPr>
        <p:spPr>
          <a:xfrm>
            <a:off x="1066800" y="394977"/>
            <a:ext cx="10058400" cy="1450757"/>
          </a:xfrm>
        </p:spPr>
        <p:txBody>
          <a:bodyPr/>
          <a:lstStyle/>
          <a:p>
            <a:pPr algn="ctr"/>
            <a:r>
              <a:rPr lang="en-US"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7DD0084C-20DC-E408-5514-B4A73A97B32B}"/>
              </a:ext>
            </a:extLst>
          </p:cNvPr>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a:p>
            <a:pPr marL="0" indent="0">
              <a:buNone/>
            </a:pPr>
            <a:r>
              <a:rPr lang="en-US" dirty="0"/>
              <a:t>OBJECTIVE: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analyze historical sales data and identify patterns.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build a prediction model using Multiple Linear Regression.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study the impact of factors like holidays, fuel price, CPI, and unemployment on sales.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evaluate model performance using R² and MSE.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 simple system that predicts sales based on user input. </a:t>
            </a:r>
          </a:p>
          <a:p>
            <a:pPr marL="0" indent="0">
              <a:buNone/>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779490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8694-914D-F030-6253-62AE311E5976}"/>
              </a:ext>
            </a:extLst>
          </p:cNvPr>
          <p:cNvSpPr>
            <a:spLocks noGrp="1"/>
          </p:cNvSpPr>
          <p:nvPr>
            <p:ph type="title"/>
          </p:nvPr>
        </p:nvSpPr>
        <p:spPr/>
        <p:txBody>
          <a:bodyPr/>
          <a:lstStyle/>
          <a:p>
            <a:pPr algn="ctr"/>
            <a:r>
              <a:rPr kumimoji="0" lang="en-US" sz="4800" b="0" i="0" u="none" strike="noStrike" kern="1200" cap="none" spc="-50" normalizeH="0" baseline="0" noProof="0" dirty="0">
                <a:ln>
                  <a:noFill/>
                </a:ln>
                <a:solidFill>
                  <a:srgbClr val="000000">
                    <a:lumMod val="75000"/>
                    <a:lumOff val="25000"/>
                  </a:srgbClr>
                </a:solidFill>
                <a:effectLst/>
                <a:uLnTx/>
                <a:uFillTx/>
                <a:latin typeface="Times New Roman" panose="02020603050405020304" pitchFamily="18" charset="0"/>
                <a:ea typeface="+mj-ea"/>
                <a:cs typeface="Times New Roman" panose="02020603050405020304" pitchFamily="18" charset="0"/>
              </a:rPr>
              <a:t>Dataset Description</a:t>
            </a:r>
            <a:endParaRPr lang="en-US" dirty="0"/>
          </a:p>
        </p:txBody>
      </p:sp>
      <p:sp>
        <p:nvSpPr>
          <p:cNvPr id="3" name="Content Placeholder 2">
            <a:extLst>
              <a:ext uri="{FF2B5EF4-FFF2-40B4-BE49-F238E27FC236}">
                <a16:creationId xmlns:a16="http://schemas.microsoft.com/office/drawing/2014/main" id="{25DBCDAE-EC87-229F-790E-2A101226FBCE}"/>
              </a:ext>
            </a:extLst>
          </p:cNvPr>
          <p:cNvSpPr>
            <a:spLocks noGrp="1"/>
          </p:cNvSpPr>
          <p:nvPr>
            <p:ph sz="half" idx="1"/>
          </p:nvPr>
        </p:nvSpPr>
        <p:spPr/>
        <p:txBody>
          <a:bodyPr/>
          <a:lstStyle/>
          <a:p>
            <a:pPr marL="91440" marR="0" lvl="0" indent="-91440" algn="l" defTabSz="914400" rtl="0" eaLnBrk="1" fontAlgn="auto" latinLnBrk="0" hangingPunct="1">
              <a:lnSpc>
                <a:spcPct val="90000"/>
              </a:lnSpc>
              <a:spcBef>
                <a:spcPts val="1200"/>
              </a:spcBef>
              <a:spcAft>
                <a:spcPts val="200"/>
              </a:spcAft>
              <a:buClr>
                <a:srgbClr val="E48312"/>
              </a:buClr>
              <a:buSzPct val="100000"/>
              <a:buFont typeface="Calibri" panose="020F0502020204030204" pitchFamily="34" charset="0"/>
              <a:buChar char=" "/>
              <a:tabLst/>
              <a:defRPr/>
            </a:pPr>
            <a:r>
              <a:rPr kumimoji="0" lang="en-US" sz="2000" b="1"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Dataset Details</a:t>
            </a:r>
          </a:p>
          <a:p>
            <a:pPr marL="91440" marR="0" lvl="0" indent="-91440" algn="l" defTabSz="914400" rtl="0" eaLnBrk="1" fontAlgn="auto" latinLnBrk="0" hangingPunct="1">
              <a:lnSpc>
                <a:spcPct val="90000"/>
              </a:lnSpc>
              <a:spcBef>
                <a:spcPts val="1200"/>
              </a:spcBef>
              <a:spcAft>
                <a:spcPts val="200"/>
              </a:spcAft>
              <a:buClr>
                <a:srgbClr val="E48312"/>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Dataset: Walmart Sales Dataset </a:t>
            </a:r>
          </a:p>
          <a:p>
            <a:pPr marL="91440" marR="0" lvl="0" indent="-91440" algn="l" defTabSz="914400" rtl="0" eaLnBrk="1" fontAlgn="auto" latinLnBrk="0" hangingPunct="1">
              <a:lnSpc>
                <a:spcPct val="90000"/>
              </a:lnSpc>
              <a:spcBef>
                <a:spcPts val="1200"/>
              </a:spcBef>
              <a:spcAft>
                <a:spcPts val="200"/>
              </a:spcAft>
              <a:buClr>
                <a:srgbClr val="E48312"/>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Total Records: </a:t>
            </a:r>
            <a:r>
              <a:rPr kumimoji="0" lang="en-US" sz="2000" b="1"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421,570</a:t>
            </a: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 </a:t>
            </a:r>
          </a:p>
          <a:p>
            <a:pPr marL="91440" marR="0" lvl="0" indent="-91440" algn="l" defTabSz="914400" rtl="0" eaLnBrk="1" fontAlgn="auto" latinLnBrk="0" hangingPunct="1">
              <a:lnSpc>
                <a:spcPct val="90000"/>
              </a:lnSpc>
              <a:spcBef>
                <a:spcPts val="1200"/>
              </a:spcBef>
              <a:spcAft>
                <a:spcPts val="200"/>
              </a:spcAft>
              <a:buClr>
                <a:srgbClr val="E48312"/>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Total Features: </a:t>
            </a:r>
            <a:r>
              <a:rPr kumimoji="0" lang="en-US" sz="2000" b="1"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8</a:t>
            </a: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 </a:t>
            </a:r>
          </a:p>
          <a:p>
            <a:pPr marL="91440" marR="0" lvl="0" indent="-91440" algn="l" defTabSz="914400" rtl="0" eaLnBrk="1" fontAlgn="auto" latinLnBrk="0" hangingPunct="1">
              <a:lnSpc>
                <a:spcPct val="90000"/>
              </a:lnSpc>
              <a:spcBef>
                <a:spcPts val="1200"/>
              </a:spcBef>
              <a:spcAft>
                <a:spcPts val="200"/>
              </a:spcAft>
              <a:buClr>
                <a:srgbClr val="E48312"/>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Data Type: Structured (Tabular) </a:t>
            </a:r>
          </a:p>
          <a:p>
            <a:pPr marL="91440" marR="0" lvl="0" indent="-91440" algn="l" defTabSz="914400" rtl="0" eaLnBrk="1" fontAlgn="auto" latinLnBrk="0" hangingPunct="1">
              <a:lnSpc>
                <a:spcPct val="90000"/>
              </a:lnSpc>
              <a:spcBef>
                <a:spcPts val="1200"/>
              </a:spcBef>
              <a:spcAft>
                <a:spcPts val="200"/>
              </a:spcAft>
              <a:buClr>
                <a:srgbClr val="E48312"/>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Time Period: Weekly </a:t>
            </a:r>
          </a:p>
          <a:p>
            <a:endParaRPr lang="en-US" dirty="0"/>
          </a:p>
        </p:txBody>
      </p:sp>
      <p:sp>
        <p:nvSpPr>
          <p:cNvPr id="4" name="Content Placeholder 3">
            <a:extLst>
              <a:ext uri="{FF2B5EF4-FFF2-40B4-BE49-F238E27FC236}">
                <a16:creationId xmlns:a16="http://schemas.microsoft.com/office/drawing/2014/main" id="{DE21E647-4ACE-17D2-21BD-05CE3911AF96}"/>
              </a:ext>
            </a:extLst>
          </p:cNvPr>
          <p:cNvSpPr>
            <a:spLocks noGrp="1"/>
          </p:cNvSpPr>
          <p:nvPr>
            <p:ph sz="half" idx="2"/>
          </p:nvPr>
        </p:nvSpPr>
        <p:spPr/>
        <p:txBody>
          <a:bodyPr/>
          <a:lstStyle/>
          <a:p>
            <a:r>
              <a:rPr lang="en-US" b="1" dirty="0">
                <a:latin typeface="Times New Roman" panose="02020603050405020304" pitchFamily="18" charset="0"/>
                <a:cs typeface="Times New Roman" panose="02020603050405020304" pitchFamily="18" charset="0"/>
              </a:rPr>
              <a:t>Variables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Date </a:t>
            </a: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Weekly_Sales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(Target)</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Holiday_Flag</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Temperature </a:t>
            </a: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Fuel_Price</a:t>
            </a: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CPI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Unemployment </a:t>
            </a:r>
          </a:p>
          <a:p>
            <a:endParaRPr lang="en-US" dirty="0"/>
          </a:p>
        </p:txBody>
      </p:sp>
    </p:spTree>
    <p:extLst>
      <p:ext uri="{BB962C8B-B14F-4D97-AF65-F5344CB8AC3E}">
        <p14:creationId xmlns:p14="http://schemas.microsoft.com/office/powerpoint/2010/main" val="1670766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C72E1-B2C1-04E3-95F7-4939891D9DE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Data Preprocessing &amp; EDA</a:t>
            </a:r>
          </a:p>
        </p:txBody>
      </p:sp>
      <p:sp>
        <p:nvSpPr>
          <p:cNvPr id="3" name="Content Placeholder 2">
            <a:extLst>
              <a:ext uri="{FF2B5EF4-FFF2-40B4-BE49-F238E27FC236}">
                <a16:creationId xmlns:a16="http://schemas.microsoft.com/office/drawing/2014/main" id="{42F33CB0-012A-21D4-5889-8F2D8155E16C}"/>
              </a:ext>
            </a:extLst>
          </p:cNvPr>
          <p:cNvSpPr>
            <a:spLocks noGrp="1"/>
          </p:cNvSpPr>
          <p:nvPr>
            <p:ph idx="1"/>
          </p:nvPr>
        </p:nvSpPr>
        <p:spPr>
          <a:xfrm>
            <a:off x="1097280" y="1845734"/>
            <a:ext cx="4902828" cy="4023360"/>
          </a:xfrm>
        </p:spPr>
        <p:txBody>
          <a:bodyPr/>
          <a:lstStyle/>
          <a:p>
            <a:r>
              <a:rPr lang="en-US" b="1" dirty="0">
                <a:latin typeface="Times New Roman" panose="02020603050405020304" pitchFamily="18" charset="0"/>
                <a:cs typeface="Times New Roman" panose="02020603050405020304" pitchFamily="18" charset="0"/>
              </a:rPr>
              <a:t>Preprocessing Steps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Converted data types (Date, Store, Holiday)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Removed missing values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new features (Month, Year) </a:t>
            </a:r>
          </a:p>
          <a:p>
            <a:r>
              <a:rPr lang="en-US" b="1" dirty="0">
                <a:latin typeface="Times New Roman" panose="02020603050405020304" pitchFamily="18" charset="0"/>
                <a:cs typeface="Times New Roman" panose="02020603050405020304" pitchFamily="18" charset="0"/>
              </a:rPr>
              <a:t>EDA Insights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Higher sales during holidays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Economic factors influence sales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Variation across stores</a:t>
            </a:r>
          </a:p>
          <a:p>
            <a:endParaRPr lang="en-US" dirty="0"/>
          </a:p>
        </p:txBody>
      </p:sp>
    </p:spTree>
    <p:extLst>
      <p:ext uri="{BB962C8B-B14F-4D97-AF65-F5344CB8AC3E}">
        <p14:creationId xmlns:p14="http://schemas.microsoft.com/office/powerpoint/2010/main" val="3604336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EAD37-F426-F2DC-328B-F499BC9B1250}"/>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Model Implementation</a:t>
            </a:r>
          </a:p>
        </p:txBody>
      </p:sp>
      <p:sp>
        <p:nvSpPr>
          <p:cNvPr id="3" name="Content Placeholder 2">
            <a:extLst>
              <a:ext uri="{FF2B5EF4-FFF2-40B4-BE49-F238E27FC236}">
                <a16:creationId xmlns:a16="http://schemas.microsoft.com/office/drawing/2014/main" id="{D3125254-4D56-A3B9-851F-7DDDA0FFBCB8}"/>
              </a:ext>
            </a:extLst>
          </p:cNvPr>
          <p:cNvSpPr>
            <a:spLocks noGrp="1"/>
          </p:cNvSpPr>
          <p:nvPr>
            <p:ph idx="1"/>
          </p:nvPr>
        </p:nvSpPr>
        <p:spPr>
          <a:xfrm>
            <a:off x="1097280" y="1845734"/>
            <a:ext cx="5334342" cy="4023360"/>
          </a:xfrm>
        </p:spPr>
        <p:txBody>
          <a:bodyPr/>
          <a:lstStyle/>
          <a:p>
            <a:r>
              <a:rPr lang="en-US" b="1" dirty="0">
                <a:latin typeface="Times New Roman" panose="02020603050405020304" pitchFamily="18" charset="0"/>
                <a:cs typeface="Times New Roman" panose="02020603050405020304" pitchFamily="18" charset="0"/>
              </a:rPr>
              <a:t>Model Used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Multiple Linear Regression </a:t>
            </a:r>
          </a:p>
          <a:p>
            <a:r>
              <a:rPr lang="en-US" b="1" dirty="0">
                <a:latin typeface="Times New Roman" panose="02020603050405020304" pitchFamily="18" charset="0"/>
                <a:cs typeface="Times New Roman" panose="02020603050405020304" pitchFamily="18" charset="0"/>
              </a:rPr>
              <a:t>Regression Equation</a:t>
            </a:r>
          </a:p>
          <a:p>
            <a:r>
              <a:rPr lang="en-US" dirty="0">
                <a:latin typeface="Times New Roman" panose="02020603050405020304" pitchFamily="18" charset="0"/>
                <a:cs typeface="Times New Roman" panose="02020603050405020304" pitchFamily="18" charset="0"/>
              </a:rPr>
              <a:t>Sales = f(Holiday, Temperature, Fuel Price, CPI, Unemployment, Store)</a:t>
            </a:r>
          </a:p>
          <a:p>
            <a:r>
              <a:rPr lang="en-US" b="1" dirty="0">
                <a:latin typeface="Times New Roman" panose="02020603050405020304" pitchFamily="18" charset="0"/>
                <a:cs typeface="Times New Roman" panose="02020603050405020304" pitchFamily="18" charset="0"/>
              </a:rPr>
              <a:t>Steps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split: 80% Training, 20% Testing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 trained using historical data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Predictions generated </a:t>
            </a:r>
          </a:p>
          <a:p>
            <a:endParaRPr lang="en-US" dirty="0"/>
          </a:p>
        </p:txBody>
      </p:sp>
    </p:spTree>
    <p:extLst>
      <p:ext uri="{BB962C8B-B14F-4D97-AF65-F5344CB8AC3E}">
        <p14:creationId xmlns:p14="http://schemas.microsoft.com/office/powerpoint/2010/main" val="442800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E0CDA-2FC8-7F06-F69D-F221EE3477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6777F-A6BD-935D-E992-28E6E4CFB265}"/>
              </a:ext>
            </a:extLst>
          </p:cNvPr>
          <p:cNvSpPr>
            <a:spLocks noGrp="1"/>
          </p:cNvSpPr>
          <p:nvPr>
            <p:ph type="title"/>
          </p:nvPr>
        </p:nvSpPr>
        <p:spPr>
          <a:xfrm>
            <a:off x="1256306" y="-150719"/>
            <a:ext cx="10058400" cy="1450757"/>
          </a:xfrm>
        </p:spPr>
        <p:txBody>
          <a:bodyPr/>
          <a:lstStyle/>
          <a:p>
            <a:pPr algn="ctr"/>
            <a:r>
              <a:rPr lang="en-US" dirty="0">
                <a:latin typeface="Times New Roman" panose="02020603050405020304" pitchFamily="18" charset="0"/>
                <a:cs typeface="Times New Roman" panose="02020603050405020304" pitchFamily="18" charset="0"/>
              </a:rPr>
              <a:t>Results &amp; Performance</a:t>
            </a:r>
          </a:p>
        </p:txBody>
      </p:sp>
      <p:sp>
        <p:nvSpPr>
          <p:cNvPr id="6" name="Content Placeholder 4">
            <a:extLst>
              <a:ext uri="{FF2B5EF4-FFF2-40B4-BE49-F238E27FC236}">
                <a16:creationId xmlns:a16="http://schemas.microsoft.com/office/drawing/2014/main" id="{89B8A1D5-B99F-649E-6378-B067A8CACCDC}"/>
              </a:ext>
            </a:extLst>
          </p:cNvPr>
          <p:cNvSpPr>
            <a:spLocks noGrp="1"/>
          </p:cNvSpPr>
          <p:nvPr>
            <p:ph idx="1"/>
          </p:nvPr>
        </p:nvSpPr>
        <p:spPr>
          <a:xfrm>
            <a:off x="1096963" y="1739349"/>
            <a:ext cx="5303836" cy="4572000"/>
          </a:xfrm>
        </p:spPr>
        <p:txBody>
          <a:bodyPr>
            <a:normAutofit lnSpcReduction="10000"/>
          </a:bodyPr>
          <a:lstStyle/>
          <a:p>
            <a:endParaRPr lang="en-GB" b="1"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Sales Prediction and Model Performance</a:t>
            </a:r>
          </a:p>
          <a:p>
            <a:r>
              <a:rPr lang="en-GB" dirty="0">
                <a:latin typeface="Times New Roman" panose="02020603050405020304" pitchFamily="18" charset="0"/>
                <a:cs typeface="Times New Roman" panose="02020603050405020304" pitchFamily="18" charset="0"/>
              </a:rPr>
              <a:t>A Linear Regression model is used to predict weekly sales based on factors like store number, temperature, fuel price, CPI, unemployment rate, and holiday indicators. The model generates predicted sales values that are compared with actual sales using prediction graphs. The model performance is evaluated using metrics such as Mean Squared Error (MSE), Root Mean Squared Error (RMSE), and R-squared (R²), which measure prediction accuracy.</a:t>
            </a:r>
          </a:p>
          <a:p>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12B47F77-74A6-3949-F18A-8B3DEDD66F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799" y="1739348"/>
            <a:ext cx="5476461" cy="4373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393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94D6F-533E-B696-F103-0837163DCFAC}"/>
              </a:ext>
            </a:extLst>
          </p:cNvPr>
          <p:cNvSpPr>
            <a:spLocks noGrp="1"/>
          </p:cNvSpPr>
          <p:nvPr>
            <p:ph type="title"/>
          </p:nvPr>
        </p:nvSpPr>
        <p:spPr>
          <a:xfrm>
            <a:off x="1256306" y="-150719"/>
            <a:ext cx="10058400" cy="1450757"/>
          </a:xfrm>
        </p:spPr>
        <p:txBody>
          <a:bodyPr/>
          <a:lstStyle/>
          <a:p>
            <a:pPr algn="ctr"/>
            <a:r>
              <a:rPr lang="en-US" dirty="0">
                <a:latin typeface="Times New Roman" panose="02020603050405020304" pitchFamily="18" charset="0"/>
                <a:cs typeface="Times New Roman" panose="02020603050405020304" pitchFamily="18" charset="0"/>
              </a:rPr>
              <a:t>Results &amp; Performance</a:t>
            </a:r>
          </a:p>
        </p:txBody>
      </p:sp>
      <p:sp>
        <p:nvSpPr>
          <p:cNvPr id="3" name="Content Placeholder 2">
            <a:extLst>
              <a:ext uri="{FF2B5EF4-FFF2-40B4-BE49-F238E27FC236}">
                <a16:creationId xmlns:a16="http://schemas.microsoft.com/office/drawing/2014/main" id="{AD08D71A-58BA-83E5-65A5-25790C817259}"/>
              </a:ext>
            </a:extLst>
          </p:cNvPr>
          <p:cNvSpPr>
            <a:spLocks noGrp="1"/>
          </p:cNvSpPr>
          <p:nvPr>
            <p:ph idx="1"/>
          </p:nvPr>
        </p:nvSpPr>
        <p:spPr>
          <a:xfrm>
            <a:off x="403123" y="1779104"/>
            <a:ext cx="4376616" cy="4422913"/>
          </a:xfrm>
        </p:spPr>
        <p:txBody>
          <a:bodyPr>
            <a:normAutofit lnSpcReduction="10000"/>
          </a:bodyPr>
          <a:lstStyle/>
          <a:p>
            <a:r>
              <a:rPr lang="en-GB" sz="1800" b="1" dirty="0">
                <a:latin typeface="Times New Roman" panose="02020603050405020304" pitchFamily="18" charset="0"/>
                <a:cs typeface="Times New Roman" panose="02020603050405020304" pitchFamily="18" charset="0"/>
              </a:rPr>
              <a:t>Sales Dashboard Overview</a:t>
            </a:r>
          </a:p>
          <a:p>
            <a:endParaRPr lang="en-GB" sz="1800" dirty="0">
              <a:latin typeface="Times New Roman" panose="02020603050405020304" pitchFamily="18" charset="0"/>
              <a:cs typeface="Times New Roman" panose="02020603050405020304" pitchFamily="18" charset="0"/>
            </a:endParaRPr>
          </a:p>
          <a:p>
            <a:r>
              <a:rPr lang="en-GB" sz="1800" dirty="0">
                <a:latin typeface="Times New Roman" panose="02020603050405020304" pitchFamily="18" charset="0"/>
                <a:cs typeface="Times New Roman" panose="02020603050405020304" pitchFamily="18" charset="0"/>
              </a:rPr>
              <a:t>The project output is presented through an interactive dashboard developed using R in RStudio with the help of Shiny.</a:t>
            </a:r>
          </a:p>
          <a:p>
            <a:r>
              <a:rPr lang="en-GB" sz="1800" dirty="0">
                <a:latin typeface="Times New Roman" panose="02020603050405020304" pitchFamily="18" charset="0"/>
                <a:cs typeface="Times New Roman" panose="02020603050405020304" pitchFamily="18" charset="0"/>
              </a:rPr>
              <a:t> The dashboard allows users to </a:t>
            </a: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Walmart sales data using filters such as Store, Year, and Temperature. </a:t>
            </a:r>
          </a:p>
          <a:p>
            <a:r>
              <a:rPr lang="en-GB" sz="1800" dirty="0">
                <a:latin typeface="Times New Roman" panose="02020603050405020304" pitchFamily="18" charset="0"/>
                <a:cs typeface="Times New Roman" panose="02020603050405020304" pitchFamily="18" charset="0"/>
              </a:rPr>
              <a:t>It displays key sales metrics including total sales, average sales, maximum sales, and minimum sales. These indicators provide a quick overview of store performance and help users understand overall revenue patterns.</a:t>
            </a:r>
          </a:p>
          <a:p>
            <a:br>
              <a:rPr lang="en-GB" dirty="0"/>
            </a:br>
            <a:endParaRPr lang="en-US" dirty="0"/>
          </a:p>
        </p:txBody>
      </p:sp>
      <p:pic>
        <p:nvPicPr>
          <p:cNvPr id="1026" name="Picture 2">
            <a:extLst>
              <a:ext uri="{FF2B5EF4-FFF2-40B4-BE49-F238E27FC236}">
                <a16:creationId xmlns:a16="http://schemas.microsoft.com/office/drawing/2014/main" id="{F280D840-B84E-3ED6-136B-82C829152A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9739" y="1649896"/>
            <a:ext cx="7087583" cy="4552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7503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8C3FA-B59C-D621-F3BD-93CF41996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93F4D-2BA7-DD9C-B0BA-52DA4D5DD654}"/>
              </a:ext>
            </a:extLst>
          </p:cNvPr>
          <p:cNvSpPr>
            <a:spLocks noGrp="1"/>
          </p:cNvSpPr>
          <p:nvPr>
            <p:ph type="title"/>
          </p:nvPr>
        </p:nvSpPr>
        <p:spPr>
          <a:xfrm>
            <a:off x="1256306" y="-150719"/>
            <a:ext cx="10058400" cy="1450757"/>
          </a:xfrm>
        </p:spPr>
        <p:txBody>
          <a:bodyPr/>
          <a:lstStyle/>
          <a:p>
            <a:pPr algn="ctr"/>
            <a:r>
              <a:rPr lang="en-US" dirty="0">
                <a:latin typeface="Times New Roman" panose="02020603050405020304" pitchFamily="18" charset="0"/>
                <a:cs typeface="Times New Roman" panose="02020603050405020304" pitchFamily="18" charset="0"/>
              </a:rPr>
              <a:t>Results &amp; Performance</a:t>
            </a:r>
          </a:p>
        </p:txBody>
      </p:sp>
      <p:sp>
        <p:nvSpPr>
          <p:cNvPr id="5" name="Content Placeholder 4">
            <a:extLst>
              <a:ext uri="{FF2B5EF4-FFF2-40B4-BE49-F238E27FC236}">
                <a16:creationId xmlns:a16="http://schemas.microsoft.com/office/drawing/2014/main" id="{403D8D40-6E86-5479-7286-FD6503578C87}"/>
              </a:ext>
            </a:extLst>
          </p:cNvPr>
          <p:cNvSpPr>
            <a:spLocks noGrp="1"/>
          </p:cNvSpPr>
          <p:nvPr>
            <p:ph idx="1"/>
          </p:nvPr>
        </p:nvSpPr>
        <p:spPr>
          <a:xfrm>
            <a:off x="1097280" y="1737277"/>
            <a:ext cx="4998720" cy="4593949"/>
          </a:xfrm>
        </p:spPr>
        <p:txBody>
          <a:bodyPr>
            <a:normAutofit/>
          </a:bodyPr>
          <a:lstStyle/>
          <a:p>
            <a:endParaRPr lang="en-GB" b="1"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Data Visualization and Analysis</a:t>
            </a:r>
          </a:p>
          <a:p>
            <a:r>
              <a:rPr lang="en-GB" dirty="0">
                <a:latin typeface="Times New Roman" panose="02020603050405020304" pitchFamily="18" charset="0"/>
                <a:cs typeface="Times New Roman" panose="02020603050405020304" pitchFamily="18" charset="0"/>
              </a:rPr>
              <a:t>The system includes multiple graphs to visualize sales trends and patterns. Visualizations such as sales trend graphs, monthly sales distribution, temperature vs sales plots, and holiday impact analysis help identify factors that influence sales performance. These graphs make it easier to interpret large datasets and reveal patterns such as seasonal sales increases and variations in customer buying </a:t>
            </a:r>
            <a:r>
              <a:rPr lang="en-GB" dirty="0" err="1">
                <a:latin typeface="Times New Roman" panose="02020603050405020304" pitchFamily="18" charset="0"/>
                <a:cs typeface="Times New Roman" panose="02020603050405020304" pitchFamily="18" charset="0"/>
              </a:rPr>
              <a:t>behavior</a:t>
            </a:r>
            <a:r>
              <a:rPr lang="en-GB" dirty="0">
                <a:latin typeface="Times New Roman" panose="02020603050405020304" pitchFamily="18" charset="0"/>
                <a:cs typeface="Times New Roman" panose="02020603050405020304" pitchFamily="18" charset="0"/>
              </a:rPr>
              <a:t>.</a:t>
            </a:r>
          </a:p>
          <a:p>
            <a:br>
              <a:rPr lang="en-GB" dirty="0"/>
            </a:br>
            <a:endParaRPr lang="en-IN" dirty="0"/>
          </a:p>
        </p:txBody>
      </p:sp>
      <p:pic>
        <p:nvPicPr>
          <p:cNvPr id="2050" name="Picture 2">
            <a:extLst>
              <a:ext uri="{FF2B5EF4-FFF2-40B4-BE49-F238E27FC236}">
                <a16:creationId xmlns:a16="http://schemas.microsoft.com/office/drawing/2014/main" id="{82B00EF1-3658-4A73-95CF-E4A6173BA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737277"/>
            <a:ext cx="5324475" cy="4444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574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68777-0FAF-3F7D-107E-F47034B39167}"/>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Frontend Implementation</a:t>
            </a:r>
          </a:p>
        </p:txBody>
      </p:sp>
      <p:sp>
        <p:nvSpPr>
          <p:cNvPr id="3" name="Content Placeholder 2">
            <a:extLst>
              <a:ext uri="{FF2B5EF4-FFF2-40B4-BE49-F238E27FC236}">
                <a16:creationId xmlns:a16="http://schemas.microsoft.com/office/drawing/2014/main" id="{90BE10CA-3FD7-906E-3EE6-0C85CAD68B5B}"/>
              </a:ext>
            </a:extLst>
          </p:cNvPr>
          <p:cNvSpPr>
            <a:spLocks noGrp="1"/>
          </p:cNvSpPr>
          <p:nvPr>
            <p:ph idx="1"/>
          </p:nvPr>
        </p:nvSpPr>
        <p:spPr>
          <a:xfrm>
            <a:off x="1097280" y="1845734"/>
            <a:ext cx="5457632" cy="4023360"/>
          </a:xfrm>
        </p:spPr>
        <p:txBody>
          <a:bodyPr/>
          <a:lstStyle/>
          <a:p>
            <a:r>
              <a:rPr lang="en-US" b="1" dirty="0"/>
              <a:t>Technology Used</a:t>
            </a:r>
          </a:p>
          <a:p>
            <a:pPr>
              <a:buFont typeface="Arial" panose="020B0604020202020204" pitchFamily="34" charset="0"/>
              <a:buChar char="•"/>
            </a:pPr>
            <a:r>
              <a:rPr lang="en-US" dirty="0"/>
              <a:t>R Shiny </a:t>
            </a:r>
          </a:p>
          <a:p>
            <a:r>
              <a:rPr lang="en-US" b="1" dirty="0"/>
              <a:t>Features</a:t>
            </a:r>
          </a:p>
          <a:p>
            <a:pPr>
              <a:buFont typeface="Arial" panose="020B0604020202020204" pitchFamily="34" charset="0"/>
              <a:buChar char="•"/>
            </a:pPr>
            <a:r>
              <a:rPr lang="en-US" dirty="0"/>
              <a:t>User input fields </a:t>
            </a:r>
          </a:p>
          <a:p>
            <a:pPr>
              <a:buFont typeface="Arial" panose="020B0604020202020204" pitchFamily="34" charset="0"/>
              <a:buChar char="•"/>
            </a:pPr>
            <a:r>
              <a:rPr lang="en-US" dirty="0"/>
              <a:t>Predict button </a:t>
            </a:r>
          </a:p>
          <a:p>
            <a:pPr>
              <a:buFont typeface="Arial" panose="020B0604020202020204" pitchFamily="34" charset="0"/>
              <a:buChar char="•"/>
            </a:pPr>
            <a:r>
              <a:rPr lang="en-US" dirty="0"/>
              <a:t>Displays predicted sales </a:t>
            </a:r>
          </a:p>
          <a:p>
            <a:pPr>
              <a:buFont typeface="Arial" panose="020B0604020202020204" pitchFamily="34" charset="0"/>
              <a:buChar char="•"/>
            </a:pPr>
            <a:r>
              <a:rPr lang="en-US" dirty="0"/>
              <a:t>Shows performance metrics </a:t>
            </a:r>
          </a:p>
          <a:p>
            <a:pPr>
              <a:buFont typeface="Arial" panose="020B0604020202020204" pitchFamily="34" charset="0"/>
              <a:buChar char="•"/>
            </a:pPr>
            <a:r>
              <a:rPr lang="en-US" dirty="0"/>
              <a:t>Graph visualization</a:t>
            </a:r>
          </a:p>
          <a:p>
            <a:endParaRPr lang="en-US" dirty="0"/>
          </a:p>
        </p:txBody>
      </p:sp>
    </p:spTree>
    <p:extLst>
      <p:ext uri="{BB962C8B-B14F-4D97-AF65-F5344CB8AC3E}">
        <p14:creationId xmlns:p14="http://schemas.microsoft.com/office/powerpoint/2010/main" val="3562133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68777-0FAF-3F7D-107E-F47034B39167}"/>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Key Observations &amp; Challenges</a:t>
            </a:r>
          </a:p>
        </p:txBody>
      </p:sp>
      <p:sp>
        <p:nvSpPr>
          <p:cNvPr id="3" name="Content Placeholder 2">
            <a:extLst>
              <a:ext uri="{FF2B5EF4-FFF2-40B4-BE49-F238E27FC236}">
                <a16:creationId xmlns:a16="http://schemas.microsoft.com/office/drawing/2014/main" id="{90BE10CA-3FD7-906E-3EE6-0C85CAD68B5B}"/>
              </a:ext>
            </a:extLst>
          </p:cNvPr>
          <p:cNvSpPr>
            <a:spLocks noGrp="1"/>
          </p:cNvSpPr>
          <p:nvPr>
            <p:ph idx="1"/>
          </p:nvPr>
        </p:nvSpPr>
        <p:spPr>
          <a:xfrm>
            <a:off x="1097280" y="1845734"/>
            <a:ext cx="5457632" cy="4023360"/>
          </a:xfrm>
        </p:spPr>
        <p:txBody>
          <a:bodyPr/>
          <a:lstStyle/>
          <a:p>
            <a:pPr marL="0" indent="0">
              <a:buNone/>
            </a:pPr>
            <a:r>
              <a:rPr lang="en-US" b="1" dirty="0">
                <a:latin typeface="Times New Roman" panose="02020603050405020304" pitchFamily="18" charset="0"/>
                <a:cs typeface="Times New Roman" panose="02020603050405020304" pitchFamily="18" charset="0"/>
              </a:rPr>
              <a:t>Observation: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increase during holiday weeks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Promotions boost short-term sales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unemployment reduces sales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CPI has moderate impact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Store-wise variations observed</a:t>
            </a:r>
          </a:p>
        </p:txBody>
      </p:sp>
      <p:sp>
        <p:nvSpPr>
          <p:cNvPr id="5" name="Content Placeholder 2">
            <a:extLst>
              <a:ext uri="{FF2B5EF4-FFF2-40B4-BE49-F238E27FC236}">
                <a16:creationId xmlns:a16="http://schemas.microsoft.com/office/drawing/2014/main" id="{4757E0DA-D74B-16D4-F11C-84E68F285B06}"/>
              </a:ext>
            </a:extLst>
          </p:cNvPr>
          <p:cNvSpPr txBox="1">
            <a:spLocks/>
          </p:cNvSpPr>
          <p:nvPr/>
        </p:nvSpPr>
        <p:spPr>
          <a:xfrm>
            <a:off x="6126480" y="1893490"/>
            <a:ext cx="5457632"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b="1" dirty="0">
                <a:latin typeface="Times New Roman" panose="02020603050405020304" pitchFamily="18" charset="0"/>
                <a:cs typeface="Times New Roman" panose="02020603050405020304" pitchFamily="18" charset="0"/>
              </a:rPr>
              <a:t>Challenges:</a:t>
            </a:r>
          </a:p>
          <a:p>
            <a:pPr marL="0" indent="0">
              <a:buFont typeface="Calibri" panose="020F0502020204030204" pitchFamily="34" charset="0"/>
              <a:buNone/>
            </a:pPr>
            <a:r>
              <a:rPr lang="en-US" dirty="0">
                <a:latin typeface="Times New Roman" panose="02020603050405020304" pitchFamily="18" charset="0"/>
                <a:cs typeface="Times New Roman" panose="02020603050405020304" pitchFamily="18" charset="0"/>
              </a:rPr>
              <a:t>Handling Large </a:t>
            </a:r>
            <a:r>
              <a:rPr lang="en-US" dirty="0" err="1">
                <a:latin typeface="Times New Roman" panose="02020603050405020304" pitchFamily="18" charset="0"/>
                <a:cs typeface="Times New Roman" panose="02020603050405020304" pitchFamily="18" charset="0"/>
              </a:rPr>
              <a:t>DataSet</a:t>
            </a:r>
            <a:endParaRPr lang="en-US" dirty="0">
              <a:latin typeface="Times New Roman" panose="02020603050405020304" pitchFamily="18" charset="0"/>
              <a:cs typeface="Times New Roman" panose="02020603050405020304" pitchFamily="18" charset="0"/>
            </a:endParaRPr>
          </a:p>
          <a:p>
            <a:pPr marL="0" indent="0">
              <a:buFont typeface="Calibri" panose="020F0502020204030204" pitchFamily="34" charset="0"/>
              <a:buNone/>
            </a:pPr>
            <a:r>
              <a:rPr lang="en-US" dirty="0">
                <a:latin typeface="Times New Roman" panose="02020603050405020304" pitchFamily="18" charset="0"/>
                <a:cs typeface="Times New Roman" panose="02020603050405020304" pitchFamily="18" charset="0"/>
              </a:rPr>
              <a:t>Data Preprocessing Complexity</a:t>
            </a:r>
          </a:p>
          <a:p>
            <a:pPr marL="0" indent="0">
              <a:buFont typeface="Calibri" panose="020F0502020204030204" pitchFamily="34" charset="0"/>
              <a:buNone/>
            </a:pPr>
            <a:r>
              <a:rPr lang="en-US" dirty="0">
                <a:latin typeface="Times New Roman" panose="02020603050405020304" pitchFamily="18" charset="0"/>
                <a:cs typeface="Times New Roman" panose="02020603050405020304" pitchFamily="18" charset="0"/>
              </a:rPr>
              <a:t>Model Tuning</a:t>
            </a:r>
          </a:p>
          <a:p>
            <a:pPr marL="0" indent="0">
              <a:buFont typeface="Calibri" panose="020F0502020204030204" pitchFamily="34" charset="0"/>
              <a:buNone/>
            </a:pPr>
            <a:r>
              <a:rPr lang="en-US" dirty="0">
                <a:latin typeface="Times New Roman" panose="02020603050405020304" pitchFamily="18" charset="0"/>
                <a:cs typeface="Times New Roman" panose="02020603050405020304" pitchFamily="18" charset="0"/>
              </a:rPr>
              <a:t>Integrating Frontend with Backend</a:t>
            </a:r>
          </a:p>
          <a:p>
            <a:pPr marL="0" indent="0">
              <a:buFont typeface="Calibri" panose="020F0502020204030204" pitchFamily="34" charset="0"/>
              <a:buNone/>
            </a:pPr>
            <a:endParaRPr lang="en-US" b="1" dirty="0">
              <a:latin typeface="Times New Roman" panose="02020603050405020304" pitchFamily="18" charset="0"/>
              <a:cs typeface="Times New Roman" panose="02020603050405020304" pitchFamily="18" charset="0"/>
            </a:endParaRPr>
          </a:p>
          <a:p>
            <a:pPr marL="0" indent="0">
              <a:buFont typeface="Calibri" panose="020F0502020204030204" pitchFamily="34" charset="0"/>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5343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85276-1D70-84C9-A264-F1AFD01472E9}"/>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C067BE11-596E-B038-D9D5-2E8E317BC0DB}"/>
              </a:ext>
            </a:extLst>
          </p:cNvPr>
          <p:cNvSpPr>
            <a:spLocks noGrp="1"/>
          </p:cNvSpPr>
          <p:nvPr>
            <p:ph idx="1"/>
          </p:nvPr>
        </p:nvSpPr>
        <p:spPr>
          <a:xfrm>
            <a:off x="1216550" y="2362569"/>
            <a:ext cx="10058400" cy="4023360"/>
          </a:xfrm>
        </p:spPr>
        <p:txBody>
          <a:bodyPr/>
          <a:lstStyle/>
          <a:p>
            <a:r>
              <a:rPr lang="en-GB" dirty="0">
                <a:latin typeface="Times New Roman" panose="02020603050405020304" pitchFamily="18" charset="0"/>
                <a:cs typeface="Times New Roman" panose="02020603050405020304" pitchFamily="18" charset="0"/>
              </a:rPr>
              <a:t>This project focused on developing a Big Data Analytics framework for sales prediction using regression models on Walmart-like datasets. The system follows a structured ETL (Extract, Transform, Load) process, ensuring large-scale retail data is efficiently processed for predictive analysis. Historical sales data, along with additional features like store locations, product categories, and holidays, were cleaned, normalized, and transformed to create high-quality inputs for regression models. The workflow from data extraction to visualization ensures accurate sales forecasts and actionable insights for business decision-making.</a:t>
            </a:r>
          </a:p>
          <a:p>
            <a:br>
              <a:rPr lang="en-GB" dirty="0"/>
            </a:br>
            <a:endParaRPr lang="en-IN" dirty="0"/>
          </a:p>
        </p:txBody>
      </p:sp>
    </p:spTree>
    <p:extLst>
      <p:ext uri="{BB962C8B-B14F-4D97-AF65-F5344CB8AC3E}">
        <p14:creationId xmlns:p14="http://schemas.microsoft.com/office/powerpoint/2010/main" val="50898740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41</TotalTime>
  <Words>695</Words>
  <Application>Microsoft Office PowerPoint</Application>
  <PresentationFormat>Widescreen</PresentationFormat>
  <Paragraphs>104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Montserrat Medium</vt:lpstr>
      <vt:lpstr>Times New Roman</vt:lpstr>
      <vt:lpstr>Retrospect</vt:lpstr>
      <vt:lpstr>Sales Prediction using Regression Models in Big Data Analytics </vt:lpstr>
      <vt:lpstr>Problem Statement</vt:lpstr>
      <vt:lpstr>Objective</vt:lpstr>
      <vt:lpstr>Dataset Description</vt:lpstr>
      <vt:lpstr>Data Preprocessing &amp; EDA</vt:lpstr>
      <vt:lpstr>Model Implementation</vt:lpstr>
      <vt:lpstr>Results &amp; Performance</vt:lpstr>
      <vt:lpstr>Results &amp; Performance</vt:lpstr>
      <vt:lpstr>Results &amp; Performance</vt:lpstr>
      <vt:lpstr>Frontend Implementation</vt:lpstr>
      <vt:lpstr>Key Observations &amp; Challenges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Prediction using Regression Models in Big Data Analytics </dc:title>
  <dc:creator>Vaishnavi Ponnuru</dc:creator>
  <cp:lastModifiedBy>BANDARUPALLI BHAVIKA SREE</cp:lastModifiedBy>
  <cp:revision>1</cp:revision>
  <dcterms:created xsi:type="dcterms:W3CDTF">2026-03-31T03:15:57Z</dcterms:created>
  <dcterms:modified xsi:type="dcterms:W3CDTF">2026-03-31T11:12:53Z</dcterms:modified>
</cp:coreProperties>
</file>